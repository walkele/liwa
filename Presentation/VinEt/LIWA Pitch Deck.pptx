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6858000" cx="12192000"/>
  <p:notesSz cx="6858000" cy="9144000"/>
  <p:embeddedFontLst>
    <p:embeddedFont>
      <p:font typeface="Playfair Display"/>
      <p:regular r:id="rId28"/>
      <p:bold r:id="rId29"/>
      <p:italic r:id="rId30"/>
      <p:boldItalic r:id="rId31"/>
    </p:embeddedFont>
    <p:embeddedFont>
      <p:font typeface="Plus Jakarta Sans"/>
      <p:regular r:id="rId32"/>
      <p:bold r:id="rId33"/>
      <p:italic r:id="rId34"/>
      <p:boldItalic r:id="rId35"/>
    </p:embeddedFont>
    <p:embeddedFont>
      <p:font typeface="Plus Jakarta Sans SemiBold"/>
      <p:regular r:id="rId36"/>
      <p:bold r:id="rId37"/>
      <p:italic r:id="rId38"/>
      <p:boldItalic r:id="rId39"/>
    </p:embeddedFont>
    <p:embeddedFont>
      <p:font typeface="Plus Jakarta Sans Medium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7FD1156-6B1D-4BD4-8013-AA8AFF705925}">
  <a:tblStyle styleId="{77FD1156-6B1D-4BD4-8013-AA8AFF70592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lusJakartaSansMedium-regular.fntdata"/><Relationship Id="rId20" Type="http://schemas.openxmlformats.org/officeDocument/2006/relationships/slide" Target="slides/slide14.xml"/><Relationship Id="rId42" Type="http://schemas.openxmlformats.org/officeDocument/2006/relationships/font" Target="fonts/PlusJakartaSansMedium-italic.fntdata"/><Relationship Id="rId41" Type="http://schemas.openxmlformats.org/officeDocument/2006/relationships/font" Target="fonts/PlusJakartaSansMedium-bold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43" Type="http://schemas.openxmlformats.org/officeDocument/2006/relationships/font" Target="fonts/PlusJakartaSansMedium-boldItalic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PlayfairDisplay-regular.fnt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layfairDisplay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layfairDisplay-boldItalic.fntdata"/><Relationship Id="rId30" Type="http://schemas.openxmlformats.org/officeDocument/2006/relationships/font" Target="fonts/PlayfairDisplay-italic.fntdata"/><Relationship Id="rId11" Type="http://schemas.openxmlformats.org/officeDocument/2006/relationships/slide" Target="slides/slide5.xml"/><Relationship Id="rId33" Type="http://schemas.openxmlformats.org/officeDocument/2006/relationships/font" Target="fonts/PlusJakartaSans-bold.fntdata"/><Relationship Id="rId10" Type="http://schemas.openxmlformats.org/officeDocument/2006/relationships/slide" Target="slides/slide4.xml"/><Relationship Id="rId32" Type="http://schemas.openxmlformats.org/officeDocument/2006/relationships/font" Target="fonts/PlusJakartaSans-regular.fntdata"/><Relationship Id="rId13" Type="http://schemas.openxmlformats.org/officeDocument/2006/relationships/slide" Target="slides/slide7.xml"/><Relationship Id="rId35" Type="http://schemas.openxmlformats.org/officeDocument/2006/relationships/font" Target="fonts/PlusJakartaSans-boldItalic.fntdata"/><Relationship Id="rId12" Type="http://schemas.openxmlformats.org/officeDocument/2006/relationships/slide" Target="slides/slide6.xml"/><Relationship Id="rId34" Type="http://schemas.openxmlformats.org/officeDocument/2006/relationships/font" Target="fonts/PlusJakartaSans-italic.fntdata"/><Relationship Id="rId15" Type="http://schemas.openxmlformats.org/officeDocument/2006/relationships/slide" Target="slides/slide9.xml"/><Relationship Id="rId37" Type="http://schemas.openxmlformats.org/officeDocument/2006/relationships/font" Target="fonts/PlusJakartaSansSemiBold-bold.fntdata"/><Relationship Id="rId14" Type="http://schemas.openxmlformats.org/officeDocument/2006/relationships/slide" Target="slides/slide8.xml"/><Relationship Id="rId36" Type="http://schemas.openxmlformats.org/officeDocument/2006/relationships/font" Target="fonts/PlusJakartaSansSemiBold-regular.fntdata"/><Relationship Id="rId17" Type="http://schemas.openxmlformats.org/officeDocument/2006/relationships/slide" Target="slides/slide11.xml"/><Relationship Id="rId39" Type="http://schemas.openxmlformats.org/officeDocument/2006/relationships/font" Target="fonts/PlusJakartaSansSemiBold-boldItalic.fntdata"/><Relationship Id="rId16" Type="http://schemas.openxmlformats.org/officeDocument/2006/relationships/slide" Target="slides/slide10.xml"/><Relationship Id="rId38" Type="http://schemas.openxmlformats.org/officeDocument/2006/relationships/font" Target="fonts/PlusJakartaSansSemiBold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2.png"/><Relationship Id="rId10" Type="http://schemas.openxmlformats.org/officeDocument/2006/relationships/image" Target="../media/image7.png"/><Relationship Id="rId13" Type="http://schemas.openxmlformats.org/officeDocument/2006/relationships/image" Target="../media/image5.png"/><Relationship Id="rId1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9" Type="http://schemas.openxmlformats.org/officeDocument/2006/relationships/image" Target="../media/image1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4.png"/><Relationship Id="rId8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22.png"/><Relationship Id="rId5" Type="http://schemas.openxmlformats.org/officeDocument/2006/relationships/image" Target="../media/image4.png"/><Relationship Id="rId6" Type="http://schemas.openxmlformats.org/officeDocument/2006/relationships/image" Target="../media/image25.pn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24.png"/><Relationship Id="rId10" Type="http://schemas.openxmlformats.org/officeDocument/2006/relationships/image" Target="../media/image7.png"/><Relationship Id="rId13" Type="http://schemas.openxmlformats.org/officeDocument/2006/relationships/image" Target="../media/image38.png"/><Relationship Id="rId1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9" Type="http://schemas.openxmlformats.org/officeDocument/2006/relationships/image" Target="../media/image1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4.png"/><Relationship Id="rId8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21.png"/><Relationship Id="rId5" Type="http://schemas.openxmlformats.org/officeDocument/2006/relationships/image" Target="../media/image4.png"/><Relationship Id="rId6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1" Type="http://schemas.openxmlformats.org/officeDocument/2006/relationships/image" Target="../media/image18.png"/><Relationship Id="rId10" Type="http://schemas.openxmlformats.org/officeDocument/2006/relationships/image" Target="../media/image7.png"/><Relationship Id="rId13" Type="http://schemas.openxmlformats.org/officeDocument/2006/relationships/image" Target="../media/image19.png"/><Relationship Id="rId1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9" Type="http://schemas.openxmlformats.org/officeDocument/2006/relationships/image" Target="../media/image1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4.png"/><Relationship Id="rId8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1" Type="http://schemas.openxmlformats.org/officeDocument/2006/relationships/image" Target="../media/image27.png"/><Relationship Id="rId10" Type="http://schemas.openxmlformats.org/officeDocument/2006/relationships/image" Target="../media/image7.png"/><Relationship Id="rId13" Type="http://schemas.openxmlformats.org/officeDocument/2006/relationships/image" Target="../media/image26.png"/><Relationship Id="rId1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9" Type="http://schemas.openxmlformats.org/officeDocument/2006/relationships/image" Target="../media/image1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4.png"/><Relationship Id="rId8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image" Target="../media/image28.png"/><Relationship Id="rId5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Relationship Id="rId4" Type="http://schemas.openxmlformats.org/officeDocument/2006/relationships/image" Target="../media/image31.png"/><Relationship Id="rId5" Type="http://schemas.openxmlformats.org/officeDocument/2006/relationships/image" Target="../media/image29.png"/><Relationship Id="rId6" Type="http://schemas.openxmlformats.org/officeDocument/2006/relationships/image" Target="../media/image23.png"/><Relationship Id="rId7" Type="http://schemas.openxmlformats.org/officeDocument/2006/relationships/image" Target="../media/image4.png"/><Relationship Id="rId8" Type="http://schemas.openxmlformats.org/officeDocument/2006/relationships/image" Target="../media/image3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Relationship Id="rId4" Type="http://schemas.openxmlformats.org/officeDocument/2006/relationships/image" Target="../media/image22.png"/><Relationship Id="rId5" Type="http://schemas.openxmlformats.org/officeDocument/2006/relationships/image" Target="../media/image4.png"/><Relationship Id="rId6" Type="http://schemas.openxmlformats.org/officeDocument/2006/relationships/image" Target="../media/image3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Relationship Id="rId4" Type="http://schemas.openxmlformats.org/officeDocument/2006/relationships/image" Target="../media/image33.png"/><Relationship Id="rId5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Relationship Id="rId4" Type="http://schemas.openxmlformats.org/officeDocument/2006/relationships/image" Target="../media/image32.png"/><Relationship Id="rId5" Type="http://schemas.openxmlformats.org/officeDocument/2006/relationships/image" Target="../media/image35.png"/><Relationship Id="rId6" Type="http://schemas.openxmlformats.org/officeDocument/2006/relationships/image" Target="../media/image39.png"/><Relationship Id="rId7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9F5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88693" y="2072580"/>
            <a:ext cx="2614612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6343650"/>
            <a:ext cx="106680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2095500" y="2615505"/>
            <a:ext cx="8001000" cy="8172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850" u="none" cap="none" strike="noStrike">
                <a:solidFill>
                  <a:srgbClr val="042F2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LIWA — ሊዋ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286000" y="3575595"/>
            <a:ext cx="7620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D9488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Unlocking Billions in Latent Asset Value Through Secure Peer-to-Peer Barter.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3238500" y="4585245"/>
            <a:ext cx="5715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Bridging traditional offline trading memory with modern scale-ready platform security.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762000" y="6448425"/>
            <a:ext cx="1323975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EXECUTIVE PITCH DECK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6207918" y="6448425"/>
            <a:ext cx="976312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LIWA.COM | 2026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11306175" y="6448425"/>
            <a:ext cx="123825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01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9F5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7" name="Google Shape;9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767012"/>
            <a:ext cx="5143500" cy="2095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767012"/>
            <a:ext cx="5143500" cy="2095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6343650"/>
            <a:ext cx="106680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762000" y="6448425"/>
            <a:ext cx="985837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MACRO CONTEXT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5410200" y="6448425"/>
            <a:ext cx="2205037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REF: LIWA FINTECH PRESENTATION.PPTX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11277600" y="6448425"/>
            <a:ext cx="152400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02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1143000" y="3100387"/>
            <a:ext cx="4650581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D948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139.5M Mobile Wallets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1143000" y="3500437"/>
            <a:ext cx="44291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Driven by the National Bank of Ethiopia’s National Digital Payments Strategy (2026–2030), digital wallets and transaction frameworks have saturated consumer behaviors nationwide.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6667500" y="3100387"/>
            <a:ext cx="4650581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D948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Regulatory Safety Nets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6667500" y="3500437"/>
            <a:ext cx="442912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landmark Startup Proclamation implementation, backed by a sovereign Fund of Funds, creates an unprecedented structural platform and asset safety mechanism.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762000" y="523875"/>
            <a:ext cx="112014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62F2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Perfect Digital Storm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9F5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3" name="Google Shape;11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481262"/>
            <a:ext cx="3397299" cy="2667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97424" y="2481262"/>
            <a:ext cx="3397299" cy="2667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32849" y="2481262"/>
            <a:ext cx="3397299" cy="2667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6343650"/>
            <a:ext cx="106680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762000" y="6448425"/>
            <a:ext cx="1209675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PROBLEM DEFINITION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5717381" y="6448425"/>
            <a:ext cx="1814512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REF: LIWACH APP REVERW.DOCX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11277600" y="6448425"/>
            <a:ext cx="152400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03</a:t>
            </a:r>
            <a:endParaRPr/>
          </a:p>
        </p:txBody>
      </p:sp>
      <p:pic>
        <p:nvPicPr>
          <p:cNvPr descr="image.png" id="121" name="Google Shape;121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47750" y="2767012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1047750" y="3433762"/>
            <a:ext cx="296708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62F2C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Locked Capital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1047750" y="3833812"/>
            <a:ext cx="28257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High inflation and currency depreciation restrict immediate fiat purchasing power, preventing consumer tech upgrades.</a:t>
            </a:r>
            <a:endParaRPr/>
          </a:p>
        </p:txBody>
      </p:sp>
      <p:pic>
        <p:nvPicPr>
          <p:cNvPr descr="image.png" id="124" name="Google Shape;124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683174" y="2767012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5"/>
          <p:cNvSpPr txBox="1"/>
          <p:nvPr/>
        </p:nvSpPr>
        <p:spPr>
          <a:xfrm>
            <a:off x="4683174" y="3433762"/>
            <a:ext cx="296708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62F2C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Drawer Waste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4683174" y="3833812"/>
            <a:ext cx="28257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Millions of Birr of functioning gadgets sit completely idle in closets because cash liquidation incurs massive merchant losses.</a:t>
            </a:r>
            <a:endParaRPr/>
          </a:p>
        </p:txBody>
      </p:sp>
      <p:pic>
        <p:nvPicPr>
          <p:cNvPr descr="image.png" id="127" name="Google Shape;127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318599" y="2767012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5"/>
          <p:cNvSpPr txBox="1"/>
          <p:nvPr/>
        </p:nvSpPr>
        <p:spPr>
          <a:xfrm>
            <a:off x="8318599" y="3433762"/>
            <a:ext cx="296708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62F2C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Paradox of Trust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8318599" y="3833812"/>
            <a:ext cx="28257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Consumers hold valuable assets they desire to exchange, but lack a transaction engine that handles secure value negotiation.</a:t>
            </a:r>
            <a:endParaRPr/>
          </a:p>
        </p:txBody>
      </p:sp>
      <p:pic>
        <p:nvPicPr>
          <p:cNvPr descr="image.png" id="130" name="Google Shape;130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185862" y="2890837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806999" y="2890837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442424" y="2890837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 txBox="1"/>
          <p:nvPr/>
        </p:nvSpPr>
        <p:spPr>
          <a:xfrm>
            <a:off x="762000" y="523875"/>
            <a:ext cx="112014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62F2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Friction of Offline &amp; Idle Assets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9F5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8" name="Google Shape;13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6343650"/>
            <a:ext cx="106680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6"/>
          <p:cNvSpPr txBox="1"/>
          <p:nvPr/>
        </p:nvSpPr>
        <p:spPr>
          <a:xfrm>
            <a:off x="762000" y="6448425"/>
            <a:ext cx="985837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MARKET ANALYSIS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5605462" y="6448425"/>
            <a:ext cx="1814512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REF: LIWACH APP REVERW.DOCX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11277600" y="6448425"/>
            <a:ext cx="152400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04</a:t>
            </a:r>
            <a:endParaRPr/>
          </a:p>
        </p:txBody>
      </p:sp>
      <p:graphicFrame>
        <p:nvGraphicFramePr>
          <p:cNvPr id="143" name="Google Shape;143;p16"/>
          <p:cNvGraphicFramePr/>
          <p:nvPr/>
        </p:nvGraphicFramePr>
        <p:xfrm>
          <a:off x="762000" y="252650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{77FD1156-6B1D-4BD4-8013-AA8AFF705925}</a:tableStyleId>
              </a:tblPr>
              <a:tblGrid>
                <a:gridCol w="2091475"/>
                <a:gridCol w="4503975"/>
                <a:gridCol w="4072525"/>
              </a:tblGrid>
              <a:tr h="51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62F2C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Structural Point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62F2C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What Competing Apps Lack (Weaknesses)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62F2C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Liwa Platform Resolution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</a:tr>
              <a:tr h="51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Listing Clogging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Forgotten stale items remain in database forever.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D9488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14-Day Auto-Stale Delete &amp; Archive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Negotiation Security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Price/item details can be edited mid-chat, causing theft.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D9488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Bilateral Lock-In locks terms inside chat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Communication Rules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Direct voice calls leak users off-app; leads to scam.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D9488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Secure Chat-Only Mandate &amp; Metadata analysis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Posting Safeguards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No vetting of listings; flooded with retail spam.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D9488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250 ETB Premium Limit for consecutive active ads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4" name="Google Shape;144;p16"/>
          <p:cNvSpPr/>
          <p:nvPr/>
        </p:nvSpPr>
        <p:spPr>
          <a:xfrm>
            <a:off x="762000" y="3040856"/>
            <a:ext cx="2091481" cy="95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2853481" y="3040856"/>
            <a:ext cx="4503985" cy="95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7357467" y="3040856"/>
            <a:ext cx="4072532" cy="95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/>
          <p:nvPr/>
        </p:nvSpPr>
        <p:spPr>
          <a:xfrm>
            <a:off x="762000" y="3555206"/>
            <a:ext cx="2091481" cy="95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/>
          <p:nvPr/>
        </p:nvSpPr>
        <p:spPr>
          <a:xfrm>
            <a:off x="2853481" y="3555206"/>
            <a:ext cx="4503985" cy="95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6"/>
          <p:cNvSpPr/>
          <p:nvPr/>
        </p:nvSpPr>
        <p:spPr>
          <a:xfrm>
            <a:off x="7357467" y="3555206"/>
            <a:ext cx="4072532" cy="95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762000" y="4069556"/>
            <a:ext cx="2091481" cy="95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/>
          <p:nvPr/>
        </p:nvSpPr>
        <p:spPr>
          <a:xfrm>
            <a:off x="2853481" y="4069556"/>
            <a:ext cx="4503985" cy="95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/>
          <p:nvPr/>
        </p:nvSpPr>
        <p:spPr>
          <a:xfrm>
            <a:off x="7357467" y="4069556"/>
            <a:ext cx="4072532" cy="95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6"/>
          <p:cNvSpPr/>
          <p:nvPr/>
        </p:nvSpPr>
        <p:spPr>
          <a:xfrm>
            <a:off x="762000" y="4583906"/>
            <a:ext cx="2091481" cy="95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/>
          <p:nvPr/>
        </p:nvSpPr>
        <p:spPr>
          <a:xfrm>
            <a:off x="2853481" y="4583906"/>
            <a:ext cx="4503985" cy="95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6"/>
          <p:cNvSpPr/>
          <p:nvPr/>
        </p:nvSpPr>
        <p:spPr>
          <a:xfrm>
            <a:off x="7357467" y="4583906"/>
            <a:ext cx="4072532" cy="95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6"/>
          <p:cNvSpPr txBox="1"/>
          <p:nvPr/>
        </p:nvSpPr>
        <p:spPr>
          <a:xfrm>
            <a:off x="762000" y="523875"/>
            <a:ext cx="112014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62F2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Critical Gaps in Existing Platforms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9F5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1" name="Google Shape;16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6343650"/>
            <a:ext cx="48768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762000" y="762000"/>
            <a:ext cx="50006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62F2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 New Engine for Barter</a:t>
            </a:r>
            <a:endParaRPr/>
          </a:p>
        </p:txBody>
      </p:sp>
      <p:pic>
        <p:nvPicPr>
          <p:cNvPr descr="image.png" id="164" name="Google Shape;16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/>
        </p:nvSpPr>
        <p:spPr>
          <a:xfrm>
            <a:off x="762000" y="6448425"/>
            <a:ext cx="1238250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SOLUTION STATEMENT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3183731" y="6448425"/>
            <a:ext cx="1119187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LIWA P2P PLATFORM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5486400" y="6448425"/>
            <a:ext cx="152400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05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762000" y="1533525"/>
            <a:ext cx="5000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D948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Liquifying Physical Capital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762000" y="1962150"/>
            <a:ext cx="4762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Liwa shifts unstructured classified listing into verified transaction-driven swap networks, optimizing how peer assets are valued.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762000" y="2609850"/>
            <a:ext cx="4762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By embedding value comparisons directly into user feeds, Liwa bridges Ethiopia's centuries-old "Liwach" trading culture with automated, secure verification.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9F5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5" name="Google Shape;17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243137"/>
            <a:ext cx="3143250" cy="3143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6343650"/>
            <a:ext cx="106680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 txBox="1"/>
          <p:nvPr/>
        </p:nvSpPr>
        <p:spPr>
          <a:xfrm>
            <a:off x="762000" y="6448425"/>
            <a:ext cx="881062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TARGET MARKET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5741193" y="6448425"/>
            <a:ext cx="1438275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DEMOGRAPHIC STRATEGY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11277600" y="6448425"/>
            <a:ext cx="152400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06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6286500" y="2800350"/>
            <a:ext cx="5400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D948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2.8M Tech-Savvy Digital Natives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6286500" y="3200400"/>
            <a:ext cx="5143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Liwa's initial beachhead targets young urban tech-savvies cycling through phones, gaming gear, and premium clothing accessories inside Addis Ababa.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6286500" y="4029075"/>
            <a:ext cx="5143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Highly active across social media and digital mobile money networks, this cohort acts as the high-velocity engine that launches the platform's liquidity loops.</a:t>
            </a:r>
            <a:endParaRPr/>
          </a:p>
        </p:txBody>
      </p:sp>
      <p:pic>
        <p:nvPicPr>
          <p:cNvPr descr="image.png" id="184" name="Google Shape;184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" y="2300287"/>
            <a:ext cx="3028950" cy="302895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8"/>
          <p:cNvSpPr txBox="1"/>
          <p:nvPr/>
        </p:nvSpPr>
        <p:spPr>
          <a:xfrm>
            <a:off x="762000" y="523875"/>
            <a:ext cx="112014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62F2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Demographic Wedge &amp; Asset Classes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9F5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0" name="Google Shape;19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481262"/>
            <a:ext cx="3397299" cy="2667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97424" y="2481262"/>
            <a:ext cx="3397299" cy="2667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32849" y="2481262"/>
            <a:ext cx="3397299" cy="2667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6343650"/>
            <a:ext cx="106680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 txBox="1"/>
          <p:nvPr/>
        </p:nvSpPr>
        <p:spPr>
          <a:xfrm>
            <a:off x="762000" y="6448425"/>
            <a:ext cx="1262062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PRODUCT MECHANICS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6219825" y="6448425"/>
            <a:ext cx="871537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THE SWAP FEED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11287125" y="6448425"/>
            <a:ext cx="142875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07</a:t>
            </a:r>
            <a:endParaRPr/>
          </a:p>
        </p:txBody>
      </p:sp>
      <p:pic>
        <p:nvPicPr>
          <p:cNvPr descr="image.png" id="198" name="Google Shape;198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47750" y="2767012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9"/>
          <p:cNvSpPr txBox="1"/>
          <p:nvPr/>
        </p:nvSpPr>
        <p:spPr>
          <a:xfrm>
            <a:off x="1047750" y="3433762"/>
            <a:ext cx="296708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62F2C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Swipe Engine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1047750" y="3833812"/>
            <a:ext cx="2825799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Moving past static vertical listings to dynamic swipe-to-match exploration that simulates native mobile behaviors.</a:t>
            </a:r>
            <a:endParaRPr/>
          </a:p>
        </p:txBody>
      </p:sp>
      <p:pic>
        <p:nvPicPr>
          <p:cNvPr descr="image.png" id="201" name="Google Shape;201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683174" y="2767012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9"/>
          <p:cNvSpPr txBox="1"/>
          <p:nvPr/>
        </p:nvSpPr>
        <p:spPr>
          <a:xfrm>
            <a:off x="4683174" y="3433762"/>
            <a:ext cx="296708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62F2C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Value Auction</a:t>
            </a:r>
            <a:endParaRPr/>
          </a:p>
        </p:txBody>
      </p:sp>
      <p:sp>
        <p:nvSpPr>
          <p:cNvPr id="203" name="Google Shape;203;p19"/>
          <p:cNvSpPr txBox="1"/>
          <p:nvPr/>
        </p:nvSpPr>
        <p:spPr>
          <a:xfrm>
            <a:off x="4683174" y="3833812"/>
            <a:ext cx="28257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Sellers compare multiple active buyer bids at once, allowing them to optimize for the highest-value combination.</a:t>
            </a:r>
            <a:endParaRPr/>
          </a:p>
        </p:txBody>
      </p:sp>
      <p:pic>
        <p:nvPicPr>
          <p:cNvPr descr="image.png" id="204" name="Google Shape;204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318599" y="2767012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9"/>
          <p:cNvSpPr txBox="1"/>
          <p:nvPr/>
        </p:nvSpPr>
        <p:spPr>
          <a:xfrm>
            <a:off x="8318599" y="3433762"/>
            <a:ext cx="296708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62F2C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Guest Browsing</a:t>
            </a:r>
            <a:endParaRPr/>
          </a:p>
        </p:txBody>
      </p:sp>
      <p:sp>
        <p:nvSpPr>
          <p:cNvPr id="206" name="Google Shape;206;p19"/>
          <p:cNvSpPr txBox="1"/>
          <p:nvPr/>
        </p:nvSpPr>
        <p:spPr>
          <a:xfrm>
            <a:off x="8318599" y="3833812"/>
            <a:ext cx="2825799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Enables free browsing and exploration; profile registration is deferred until a transaction commences.</a:t>
            </a:r>
            <a:endParaRPr/>
          </a:p>
        </p:txBody>
      </p:sp>
      <p:pic>
        <p:nvPicPr>
          <p:cNvPr descr="image.png" id="207" name="Google Shape;207;p1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157287" y="2890837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1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806999" y="2890837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1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413849" y="2890837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9"/>
          <p:cNvSpPr txBox="1"/>
          <p:nvPr/>
        </p:nvSpPr>
        <p:spPr>
          <a:xfrm>
            <a:off x="762000" y="523875"/>
            <a:ext cx="112014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62F2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Gamified Feed Discovery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9F5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5" name="Google Shape;21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767012"/>
            <a:ext cx="5143500" cy="2095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767012"/>
            <a:ext cx="5143500" cy="2095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6343650"/>
            <a:ext cx="106680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0"/>
          <p:cNvSpPr txBox="1"/>
          <p:nvPr/>
        </p:nvSpPr>
        <p:spPr>
          <a:xfrm>
            <a:off x="762000" y="6448425"/>
            <a:ext cx="914400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CORE PRODUCT</a:t>
            </a:r>
            <a:endParaRPr/>
          </a:p>
        </p:txBody>
      </p:sp>
      <p:sp>
        <p:nvSpPr>
          <p:cNvPr id="220" name="Google Shape;220;p20"/>
          <p:cNvSpPr txBox="1"/>
          <p:nvPr/>
        </p:nvSpPr>
        <p:spPr>
          <a:xfrm>
            <a:off x="5926931" y="6448425"/>
            <a:ext cx="1100137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BILATERAL LOCK-IN</a:t>
            </a: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11277600" y="6448425"/>
            <a:ext cx="152400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08</a:t>
            </a:r>
            <a:endParaRPr/>
          </a:p>
        </p:txBody>
      </p:sp>
      <p:sp>
        <p:nvSpPr>
          <p:cNvPr id="222" name="Google Shape;222;p20"/>
          <p:cNvSpPr txBox="1"/>
          <p:nvPr/>
        </p:nvSpPr>
        <p:spPr>
          <a:xfrm>
            <a:off x="1143000" y="3100387"/>
            <a:ext cx="4650581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D948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Cryptographic Agreement</a:t>
            </a:r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1143000" y="3500437"/>
            <a:ext cx="44291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Once swap parameters (e.g. Asset A + 1,500 ETB for Asset B) are negotiated within the chat, the platform freezes listing variables permanently to suppress mid-way modification attempts.</a:t>
            </a:r>
            <a:endParaRPr/>
          </a:p>
        </p:txBody>
      </p:sp>
      <p:sp>
        <p:nvSpPr>
          <p:cNvPr id="224" name="Google Shape;224;p20"/>
          <p:cNvSpPr txBox="1"/>
          <p:nvPr/>
        </p:nvSpPr>
        <p:spPr>
          <a:xfrm>
            <a:off x="6667500" y="3100387"/>
            <a:ext cx="4650581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D948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Value Overlay Guarantees</a:t>
            </a:r>
            <a:endParaRPr/>
          </a:p>
        </p:txBody>
      </p:sp>
      <p:sp>
        <p:nvSpPr>
          <p:cNvPr id="225" name="Google Shape;225;p20"/>
          <p:cNvSpPr txBox="1"/>
          <p:nvPr/>
        </p:nvSpPr>
        <p:spPr>
          <a:xfrm>
            <a:off x="6667500" y="3500437"/>
            <a:ext cx="442912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Liwa overlays real-time item value comparisons on chat screens, warning users algorithmic markers if proposal values fall beneath 60% of benchmark guidelines.</a:t>
            </a:r>
            <a:endParaRPr/>
          </a:p>
        </p:txBody>
      </p:sp>
      <p:sp>
        <p:nvSpPr>
          <p:cNvPr id="226" name="Google Shape;226;p20"/>
          <p:cNvSpPr txBox="1"/>
          <p:nvPr/>
        </p:nvSpPr>
        <p:spPr>
          <a:xfrm>
            <a:off x="762000" y="523875"/>
            <a:ext cx="112014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62F2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Eradicating Meetup Low-Balling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9F5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1" name="Google Shape;23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005012"/>
            <a:ext cx="514350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6343650"/>
            <a:ext cx="106680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1"/>
          <p:cNvSpPr txBox="1"/>
          <p:nvPr/>
        </p:nvSpPr>
        <p:spPr>
          <a:xfrm>
            <a:off x="762000" y="6448425"/>
            <a:ext cx="1133475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PRODUCT SECURITY</a:t>
            </a:r>
            <a:endParaRPr/>
          </a:p>
        </p:txBody>
      </p:sp>
      <p:sp>
        <p:nvSpPr>
          <p:cNvPr id="235" name="Google Shape;235;p21"/>
          <p:cNvSpPr txBox="1"/>
          <p:nvPr/>
        </p:nvSpPr>
        <p:spPr>
          <a:xfrm>
            <a:off x="6174581" y="6448425"/>
            <a:ext cx="823912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QR HANDOVER</a:t>
            </a:r>
            <a:endParaRPr/>
          </a:p>
        </p:txBody>
      </p:sp>
      <p:sp>
        <p:nvSpPr>
          <p:cNvPr id="236" name="Google Shape;236;p21"/>
          <p:cNvSpPr txBox="1"/>
          <p:nvPr/>
        </p:nvSpPr>
        <p:spPr>
          <a:xfrm>
            <a:off x="11277600" y="6448425"/>
            <a:ext cx="152400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09</a:t>
            </a:r>
            <a:endParaRPr/>
          </a:p>
        </p:txBody>
      </p:sp>
      <p:sp>
        <p:nvSpPr>
          <p:cNvPr id="237" name="Google Shape;237;p21"/>
          <p:cNvSpPr txBox="1"/>
          <p:nvPr/>
        </p:nvSpPr>
        <p:spPr>
          <a:xfrm>
            <a:off x="762000" y="2914650"/>
            <a:ext cx="5400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D948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QR Verification Handover</a:t>
            </a:r>
            <a:endParaRPr/>
          </a:p>
        </p:txBody>
      </p:sp>
      <p:sp>
        <p:nvSpPr>
          <p:cNvPr id="238" name="Google Shape;238;p21"/>
          <p:cNvSpPr txBox="1"/>
          <p:nvPr/>
        </p:nvSpPr>
        <p:spPr>
          <a:xfrm>
            <a:off x="762000" y="3314700"/>
            <a:ext cx="5143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Most marketplace fraud happens at physical meetups. Liwa implements strict transaction finality: once goods are inspected, both parties must scan complementary QR codes.</a:t>
            </a:r>
            <a:endParaRPr/>
          </a:p>
        </p:txBody>
      </p:sp>
      <p:sp>
        <p:nvSpPr>
          <p:cNvPr id="239" name="Google Shape;239;p21"/>
          <p:cNvSpPr txBox="1"/>
          <p:nvPr/>
        </p:nvSpPr>
        <p:spPr>
          <a:xfrm>
            <a:off x="762000" y="4143375"/>
            <a:ext cx="5143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Scanning instantly updates the ledger, locks transaction ratings, and releases held wallet balances via integrated gateway APIs safely.</a:t>
            </a:r>
            <a:endParaRPr/>
          </a:p>
        </p:txBody>
      </p:sp>
      <p:pic>
        <p:nvPicPr>
          <p:cNvPr descr="image.png" id="240" name="Google Shape;240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2005012"/>
            <a:ext cx="51435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1"/>
          <p:cNvSpPr txBox="1"/>
          <p:nvPr/>
        </p:nvSpPr>
        <p:spPr>
          <a:xfrm>
            <a:off x="762000" y="523875"/>
            <a:ext cx="112014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62F2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Closing the Handover Fraud Loop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9F5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6" name="Google Shape;24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6343650"/>
            <a:ext cx="106680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2"/>
          <p:cNvSpPr txBox="1"/>
          <p:nvPr/>
        </p:nvSpPr>
        <p:spPr>
          <a:xfrm>
            <a:off x="762000" y="6448425"/>
            <a:ext cx="1219200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MARKET POSITIONING</a:t>
            </a:r>
            <a:endParaRPr/>
          </a:p>
        </p:txBody>
      </p:sp>
      <p:sp>
        <p:nvSpPr>
          <p:cNvPr id="249" name="Google Shape;249;p22"/>
          <p:cNvSpPr txBox="1"/>
          <p:nvPr/>
        </p:nvSpPr>
        <p:spPr>
          <a:xfrm>
            <a:off x="6057900" y="6448425"/>
            <a:ext cx="1171575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COMPETITIVE MATRIX</a:t>
            </a:r>
            <a:endParaRPr/>
          </a:p>
        </p:txBody>
      </p:sp>
      <p:sp>
        <p:nvSpPr>
          <p:cNvPr id="250" name="Google Shape;250;p22"/>
          <p:cNvSpPr txBox="1"/>
          <p:nvPr/>
        </p:nvSpPr>
        <p:spPr>
          <a:xfrm>
            <a:off x="11306175" y="6448425"/>
            <a:ext cx="123825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10</a:t>
            </a:r>
            <a:endParaRPr/>
          </a:p>
        </p:txBody>
      </p:sp>
      <p:graphicFrame>
        <p:nvGraphicFramePr>
          <p:cNvPr id="251" name="Google Shape;251;p22"/>
          <p:cNvGraphicFramePr/>
          <p:nvPr/>
        </p:nvGraphicFramePr>
        <p:xfrm>
          <a:off x="762000" y="252650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{77FD1156-6B1D-4BD4-8013-AA8AFF705925}</a:tableStyleId>
              </a:tblPr>
              <a:tblGrid>
                <a:gridCol w="2122575"/>
                <a:gridCol w="2386450"/>
                <a:gridCol w="3024325"/>
                <a:gridCol w="3134625"/>
              </a:tblGrid>
              <a:tr h="51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62F2C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Capability Segment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62F2C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Generic Classifieds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62F2C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Unregulated Telegram Channels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62F2C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LIWA P2P Platform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</a:tr>
              <a:tr h="51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Trust Verification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None (Anonymous profiles)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None (Anarchy)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D9488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250 ETB Partner Assessment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Negotiation System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Unstructured direct calling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Chaos messaging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D9488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Bilateral Lock-In state machine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Low-ball Safeguards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Absent (Aggressive spam)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Absent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D9488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Algorithmic warnings (&lt; 60% value)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Reputation Mechanics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None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None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D9488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Integrated community verified score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2" name="Google Shape;252;p22"/>
          <p:cNvSpPr/>
          <p:nvPr/>
        </p:nvSpPr>
        <p:spPr>
          <a:xfrm>
            <a:off x="762000" y="3040856"/>
            <a:ext cx="2122586" cy="95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2"/>
          <p:cNvSpPr/>
          <p:nvPr/>
        </p:nvSpPr>
        <p:spPr>
          <a:xfrm>
            <a:off x="2884586" y="3040856"/>
            <a:ext cx="2386458" cy="95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2"/>
          <p:cNvSpPr/>
          <p:nvPr/>
        </p:nvSpPr>
        <p:spPr>
          <a:xfrm>
            <a:off x="5271045" y="3040856"/>
            <a:ext cx="3024336" cy="95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2"/>
          <p:cNvSpPr/>
          <p:nvPr/>
        </p:nvSpPr>
        <p:spPr>
          <a:xfrm>
            <a:off x="8295382" y="3040856"/>
            <a:ext cx="3134617" cy="95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2"/>
          <p:cNvSpPr/>
          <p:nvPr/>
        </p:nvSpPr>
        <p:spPr>
          <a:xfrm>
            <a:off x="762000" y="3555206"/>
            <a:ext cx="2122586" cy="95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2"/>
          <p:cNvSpPr/>
          <p:nvPr/>
        </p:nvSpPr>
        <p:spPr>
          <a:xfrm>
            <a:off x="2884586" y="3555206"/>
            <a:ext cx="2386458" cy="95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2"/>
          <p:cNvSpPr/>
          <p:nvPr/>
        </p:nvSpPr>
        <p:spPr>
          <a:xfrm>
            <a:off x="5271045" y="3555206"/>
            <a:ext cx="3024336" cy="95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2"/>
          <p:cNvSpPr/>
          <p:nvPr/>
        </p:nvSpPr>
        <p:spPr>
          <a:xfrm>
            <a:off x="8295382" y="3555206"/>
            <a:ext cx="3134617" cy="95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2"/>
          <p:cNvSpPr/>
          <p:nvPr/>
        </p:nvSpPr>
        <p:spPr>
          <a:xfrm>
            <a:off x="762000" y="4069556"/>
            <a:ext cx="2122586" cy="95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2"/>
          <p:cNvSpPr/>
          <p:nvPr/>
        </p:nvSpPr>
        <p:spPr>
          <a:xfrm>
            <a:off x="2884586" y="4069556"/>
            <a:ext cx="2386458" cy="95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2"/>
          <p:cNvSpPr/>
          <p:nvPr/>
        </p:nvSpPr>
        <p:spPr>
          <a:xfrm>
            <a:off x="5271045" y="4069556"/>
            <a:ext cx="3024336" cy="95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2"/>
          <p:cNvSpPr/>
          <p:nvPr/>
        </p:nvSpPr>
        <p:spPr>
          <a:xfrm>
            <a:off x="8295382" y="4069556"/>
            <a:ext cx="3134617" cy="95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2"/>
          <p:cNvSpPr/>
          <p:nvPr/>
        </p:nvSpPr>
        <p:spPr>
          <a:xfrm>
            <a:off x="762000" y="4583906"/>
            <a:ext cx="2122586" cy="95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2"/>
          <p:cNvSpPr/>
          <p:nvPr/>
        </p:nvSpPr>
        <p:spPr>
          <a:xfrm>
            <a:off x="2884586" y="4583906"/>
            <a:ext cx="2386458" cy="95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2"/>
          <p:cNvSpPr/>
          <p:nvPr/>
        </p:nvSpPr>
        <p:spPr>
          <a:xfrm>
            <a:off x="5271045" y="4583906"/>
            <a:ext cx="3024336" cy="95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2"/>
          <p:cNvSpPr/>
          <p:nvPr/>
        </p:nvSpPr>
        <p:spPr>
          <a:xfrm>
            <a:off x="8295382" y="4583906"/>
            <a:ext cx="3134617" cy="95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2"/>
          <p:cNvSpPr txBox="1"/>
          <p:nvPr/>
        </p:nvSpPr>
        <p:spPr>
          <a:xfrm>
            <a:off x="762000" y="523875"/>
            <a:ext cx="112014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62F2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Competitive Landscape Strategy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9F5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3" name="Google Shape;27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4" name="Google Shape;27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6343650"/>
            <a:ext cx="106680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3"/>
          <p:cNvSpPr txBox="1"/>
          <p:nvPr/>
        </p:nvSpPr>
        <p:spPr>
          <a:xfrm>
            <a:off x="762000" y="6448425"/>
            <a:ext cx="990600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BUSINESS MODEL</a:t>
            </a:r>
            <a:endParaRPr/>
          </a:p>
        </p:txBody>
      </p:sp>
      <p:sp>
        <p:nvSpPr>
          <p:cNvPr id="276" name="Google Shape;276;p23"/>
          <p:cNvSpPr txBox="1"/>
          <p:nvPr/>
        </p:nvSpPr>
        <p:spPr>
          <a:xfrm>
            <a:off x="5915025" y="6448425"/>
            <a:ext cx="1266825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MONETIZATION FLOWS</a:t>
            </a:r>
            <a:endParaRPr/>
          </a:p>
        </p:txBody>
      </p:sp>
      <p:sp>
        <p:nvSpPr>
          <p:cNvPr id="277" name="Google Shape;277;p23"/>
          <p:cNvSpPr txBox="1"/>
          <p:nvPr/>
        </p:nvSpPr>
        <p:spPr>
          <a:xfrm>
            <a:off x="11344275" y="6448425"/>
            <a:ext cx="85725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11</a:t>
            </a:r>
            <a:endParaRPr/>
          </a:p>
        </p:txBody>
      </p:sp>
      <p:sp>
        <p:nvSpPr>
          <p:cNvPr id="278" name="Google Shape;278;p23"/>
          <p:cNvSpPr txBox="1"/>
          <p:nvPr/>
        </p:nvSpPr>
        <p:spPr>
          <a:xfrm>
            <a:off x="2309812" y="3005137"/>
            <a:ext cx="2047875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0" u="none" cap="none" strike="noStrike">
                <a:solidFill>
                  <a:srgbClr val="D9770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55%</a:t>
            </a:r>
            <a:endParaRPr/>
          </a:p>
        </p:txBody>
      </p:sp>
      <p:sp>
        <p:nvSpPr>
          <p:cNvPr id="279" name="Google Shape;279;p23"/>
          <p:cNvSpPr txBox="1"/>
          <p:nvPr/>
        </p:nvSpPr>
        <p:spPr>
          <a:xfrm>
            <a:off x="1914525" y="4338637"/>
            <a:ext cx="28384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D948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ORGANIC TRIAL CONVERSION</a:t>
            </a:r>
            <a:endParaRPr/>
          </a:p>
        </p:txBody>
      </p:sp>
      <p:sp>
        <p:nvSpPr>
          <p:cNvPr id="280" name="Google Shape;280;p23"/>
          <p:cNvSpPr txBox="1"/>
          <p:nvPr/>
        </p:nvSpPr>
        <p:spPr>
          <a:xfrm>
            <a:off x="6286500" y="2800350"/>
            <a:ext cx="5400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D948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Low Friction Entry, High-Value Capture</a:t>
            </a:r>
            <a:endParaRPr/>
          </a:p>
        </p:txBody>
      </p:sp>
      <p:sp>
        <p:nvSpPr>
          <p:cNvPr id="281" name="Google Shape;281;p23"/>
          <p:cNvSpPr txBox="1"/>
          <p:nvPr/>
        </p:nvSpPr>
        <p:spPr>
          <a:xfrm>
            <a:off x="6286500" y="3200400"/>
            <a:ext cx="5143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First Swap Free: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100% free account operations for the initial 30 days or until the first transaction closes, driving unmatched early user acquisition.</a:t>
            </a:r>
            <a:endParaRPr/>
          </a:p>
        </p:txBody>
      </p:sp>
      <p:sp>
        <p:nvSpPr>
          <p:cNvPr id="282" name="Google Shape;282;p23"/>
          <p:cNvSpPr txBox="1"/>
          <p:nvPr/>
        </p:nvSpPr>
        <p:spPr>
          <a:xfrm>
            <a:off x="6286500" y="4029075"/>
            <a:ext cx="5143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Spam Suppression Filters: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The first active listing is free. Successive concurrent listings carry a 250 ETB assessment fee, purging mercantile clutter and keeping user trust exceptionally high.</a:t>
            </a:r>
            <a:endParaRPr/>
          </a:p>
        </p:txBody>
      </p:sp>
      <p:sp>
        <p:nvSpPr>
          <p:cNvPr id="283" name="Google Shape;283;p23"/>
          <p:cNvSpPr txBox="1"/>
          <p:nvPr/>
        </p:nvSpPr>
        <p:spPr>
          <a:xfrm>
            <a:off x="762000" y="523875"/>
            <a:ext cx="112014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62F2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Business Model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9F5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8" name="Google Shape;28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9" name="Google Shape;28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481262"/>
            <a:ext cx="3397299" cy="2667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0" name="Google Shape;290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97424" y="2481262"/>
            <a:ext cx="3397299" cy="2667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1" name="Google Shape;291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32849" y="2481262"/>
            <a:ext cx="3397299" cy="2667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2" name="Google Shape;292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6343650"/>
            <a:ext cx="106680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4"/>
          <p:cNvSpPr txBox="1"/>
          <p:nvPr/>
        </p:nvSpPr>
        <p:spPr>
          <a:xfrm>
            <a:off x="762000" y="6448425"/>
            <a:ext cx="1071562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ECOSYSTEM TRUST</a:t>
            </a:r>
            <a:endParaRPr/>
          </a:p>
        </p:txBody>
      </p:sp>
      <p:sp>
        <p:nvSpPr>
          <p:cNvPr id="294" name="Google Shape;294;p24"/>
          <p:cNvSpPr txBox="1"/>
          <p:nvPr/>
        </p:nvSpPr>
        <p:spPr>
          <a:xfrm>
            <a:off x="5667375" y="6448425"/>
            <a:ext cx="1814512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REF: LIWACH APP REVERW.DOCX</a:t>
            </a:r>
            <a:endParaRPr/>
          </a:p>
        </p:txBody>
      </p:sp>
      <p:sp>
        <p:nvSpPr>
          <p:cNvPr id="295" name="Google Shape;295;p24"/>
          <p:cNvSpPr txBox="1"/>
          <p:nvPr/>
        </p:nvSpPr>
        <p:spPr>
          <a:xfrm>
            <a:off x="11315700" y="6448425"/>
            <a:ext cx="114300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12</a:t>
            </a:r>
            <a:endParaRPr/>
          </a:p>
        </p:txBody>
      </p:sp>
      <p:pic>
        <p:nvPicPr>
          <p:cNvPr descr="image.png" id="296" name="Google Shape;296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47750" y="2767012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4"/>
          <p:cNvSpPr txBox="1"/>
          <p:nvPr/>
        </p:nvSpPr>
        <p:spPr>
          <a:xfrm>
            <a:off x="1047750" y="3433762"/>
            <a:ext cx="296708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62F2C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Chat-Only Mandate</a:t>
            </a:r>
            <a:endParaRPr/>
          </a:p>
        </p:txBody>
      </p:sp>
      <p:sp>
        <p:nvSpPr>
          <p:cNvPr id="298" name="Google Shape;298;p24"/>
          <p:cNvSpPr txBox="1"/>
          <p:nvPr/>
        </p:nvSpPr>
        <p:spPr>
          <a:xfrm>
            <a:off x="1047750" y="3833812"/>
            <a:ext cx="28257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Voice calls are completely blocked in-app. Retaining 100% of negotiation metadata enables systemic fraud prevention.</a:t>
            </a:r>
            <a:endParaRPr/>
          </a:p>
        </p:txBody>
      </p:sp>
      <p:pic>
        <p:nvPicPr>
          <p:cNvPr descr="image.png" id="299" name="Google Shape;299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683174" y="2767012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4"/>
          <p:cNvSpPr txBox="1"/>
          <p:nvPr/>
        </p:nvSpPr>
        <p:spPr>
          <a:xfrm>
            <a:off x="4683174" y="3433762"/>
            <a:ext cx="296708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62F2C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Economic Sanctions</a:t>
            </a:r>
            <a:endParaRPr/>
          </a:p>
        </p:txBody>
      </p:sp>
      <p:sp>
        <p:nvSpPr>
          <p:cNvPr id="301" name="Google Shape;301;p24"/>
          <p:cNvSpPr txBox="1"/>
          <p:nvPr/>
        </p:nvSpPr>
        <p:spPr>
          <a:xfrm>
            <a:off x="4683174" y="3833812"/>
            <a:ext cx="28257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Reported bad behaviors trigger profile status drops. Restoring verification requires a strict 250 ETB re-vetting fee.</a:t>
            </a:r>
            <a:endParaRPr/>
          </a:p>
        </p:txBody>
      </p:sp>
      <p:pic>
        <p:nvPicPr>
          <p:cNvPr descr="image.png" id="302" name="Google Shape;302;p2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318599" y="2767012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4"/>
          <p:cNvSpPr txBox="1"/>
          <p:nvPr/>
        </p:nvSpPr>
        <p:spPr>
          <a:xfrm>
            <a:off x="8318599" y="3433762"/>
            <a:ext cx="296708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62F2C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Low Headcount</a:t>
            </a:r>
            <a:endParaRPr/>
          </a:p>
        </p:txBody>
      </p:sp>
      <p:sp>
        <p:nvSpPr>
          <p:cNvPr id="304" name="Google Shape;304;p24"/>
          <p:cNvSpPr txBox="1"/>
          <p:nvPr/>
        </p:nvSpPr>
        <p:spPr>
          <a:xfrm>
            <a:off x="8318599" y="3833812"/>
            <a:ext cx="28257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Self-policing community feedback and reputation metrics reduce operational overhead and support staff scaling requirements.</a:t>
            </a:r>
            <a:endParaRPr/>
          </a:p>
        </p:txBody>
      </p:sp>
      <p:pic>
        <p:nvPicPr>
          <p:cNvPr descr="image.png" id="305" name="Google Shape;305;p2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143000" y="2890837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6" name="Google Shape;306;p2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806999" y="2890837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7" name="Google Shape;307;p2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442424" y="2890837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4"/>
          <p:cNvSpPr txBox="1"/>
          <p:nvPr/>
        </p:nvSpPr>
        <p:spPr>
          <a:xfrm>
            <a:off x="762000" y="523875"/>
            <a:ext cx="112014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62F2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Trust Engineering &amp; Chat Rules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9F5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3" name="Google Shape;31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4" name="Google Shape;31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767012"/>
            <a:ext cx="5143500" cy="2095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5" name="Google Shape;315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767012"/>
            <a:ext cx="5143500" cy="2095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6" name="Google Shape;316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6343650"/>
            <a:ext cx="106680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5"/>
          <p:cNvSpPr txBox="1"/>
          <p:nvPr/>
        </p:nvSpPr>
        <p:spPr>
          <a:xfrm>
            <a:off x="762000" y="6448425"/>
            <a:ext cx="1104900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PLATFORM SCALING</a:t>
            </a:r>
            <a:endParaRPr/>
          </a:p>
        </p:txBody>
      </p:sp>
      <p:sp>
        <p:nvSpPr>
          <p:cNvPr id="318" name="Google Shape;318;p25"/>
          <p:cNvSpPr txBox="1"/>
          <p:nvPr/>
        </p:nvSpPr>
        <p:spPr>
          <a:xfrm>
            <a:off x="5976937" y="6448425"/>
            <a:ext cx="1228725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CLOUD OPTIMIZATION</a:t>
            </a:r>
            <a:endParaRPr/>
          </a:p>
        </p:txBody>
      </p:sp>
      <p:sp>
        <p:nvSpPr>
          <p:cNvPr id="319" name="Google Shape;319;p25"/>
          <p:cNvSpPr txBox="1"/>
          <p:nvPr/>
        </p:nvSpPr>
        <p:spPr>
          <a:xfrm>
            <a:off x="11315700" y="6448425"/>
            <a:ext cx="114300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13</a:t>
            </a:r>
            <a:endParaRPr/>
          </a:p>
        </p:txBody>
      </p:sp>
      <p:sp>
        <p:nvSpPr>
          <p:cNvPr id="320" name="Google Shape;320;p25"/>
          <p:cNvSpPr txBox="1"/>
          <p:nvPr/>
        </p:nvSpPr>
        <p:spPr>
          <a:xfrm>
            <a:off x="1143000" y="3100387"/>
            <a:ext cx="4650581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D948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14-Day Auto-Archive Rule</a:t>
            </a:r>
            <a:endParaRPr/>
          </a:p>
        </p:txBody>
      </p:sp>
      <p:sp>
        <p:nvSpPr>
          <p:cNvPr id="321" name="Google Shape;321;p25"/>
          <p:cNvSpPr txBox="1"/>
          <p:nvPr/>
        </p:nvSpPr>
        <p:spPr>
          <a:xfrm>
            <a:off x="1143000" y="3500437"/>
            <a:ext cx="442912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Inactive classified listings pollute search queries and multiply cloud server expenditures. Liwa automatically archives any asset with zero buyer interactions for 14 straight days.</a:t>
            </a:r>
            <a:endParaRPr/>
          </a:p>
        </p:txBody>
      </p:sp>
      <p:sp>
        <p:nvSpPr>
          <p:cNvPr id="322" name="Google Shape;322;p25"/>
          <p:cNvSpPr txBox="1"/>
          <p:nvPr/>
        </p:nvSpPr>
        <p:spPr>
          <a:xfrm>
            <a:off x="6667500" y="3100387"/>
            <a:ext cx="4650581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D948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Optimized Firestore Queries</a:t>
            </a:r>
            <a:endParaRPr/>
          </a:p>
        </p:txBody>
      </p:sp>
      <p:sp>
        <p:nvSpPr>
          <p:cNvPr id="323" name="Google Shape;323;p25"/>
          <p:cNvSpPr txBox="1"/>
          <p:nvPr/>
        </p:nvSpPr>
        <p:spPr>
          <a:xfrm>
            <a:off x="6667500" y="3500437"/>
            <a:ext cx="44291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Push notifications request users to reactivate or confirm sale. This simple database garbage cleaning rule keeps indexing queries lean, preserving high margin operations on AWS/Firebase.</a:t>
            </a:r>
            <a:endParaRPr/>
          </a:p>
        </p:txBody>
      </p:sp>
      <p:sp>
        <p:nvSpPr>
          <p:cNvPr id="324" name="Google Shape;324;p25"/>
          <p:cNvSpPr txBox="1"/>
          <p:nvPr/>
        </p:nvSpPr>
        <p:spPr>
          <a:xfrm>
            <a:off x="762000" y="523875"/>
            <a:ext cx="112014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62F2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Infrastructure Storage Hygiene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9F5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9" name="Google Shape;32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0" name="Google Shape;33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481262"/>
            <a:ext cx="3397299" cy="2667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1" name="Google Shape;331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97424" y="2481262"/>
            <a:ext cx="3397299" cy="2667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2" name="Google Shape;332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32849" y="2481262"/>
            <a:ext cx="3397299" cy="2667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3" name="Google Shape;333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6343650"/>
            <a:ext cx="106680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26"/>
          <p:cNvSpPr txBox="1"/>
          <p:nvPr/>
        </p:nvSpPr>
        <p:spPr>
          <a:xfrm>
            <a:off x="762000" y="6448425"/>
            <a:ext cx="828675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GTM STRATEGY</a:t>
            </a:r>
            <a:endParaRPr/>
          </a:p>
        </p:txBody>
      </p:sp>
      <p:sp>
        <p:nvSpPr>
          <p:cNvPr id="335" name="Google Shape;335;p26"/>
          <p:cNvSpPr txBox="1"/>
          <p:nvPr/>
        </p:nvSpPr>
        <p:spPr>
          <a:xfrm>
            <a:off x="5991225" y="6448425"/>
            <a:ext cx="923925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PHASE 1 LAUNCH</a:t>
            </a:r>
            <a:endParaRPr/>
          </a:p>
        </p:txBody>
      </p:sp>
      <p:sp>
        <p:nvSpPr>
          <p:cNvPr id="336" name="Google Shape;336;p26"/>
          <p:cNvSpPr txBox="1"/>
          <p:nvPr/>
        </p:nvSpPr>
        <p:spPr>
          <a:xfrm>
            <a:off x="11315700" y="6448425"/>
            <a:ext cx="114300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14</a:t>
            </a:r>
            <a:endParaRPr/>
          </a:p>
        </p:txBody>
      </p:sp>
      <p:pic>
        <p:nvPicPr>
          <p:cNvPr descr="image.png" id="337" name="Google Shape;337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47750" y="2767012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26"/>
          <p:cNvSpPr txBox="1"/>
          <p:nvPr/>
        </p:nvSpPr>
        <p:spPr>
          <a:xfrm>
            <a:off x="1047750" y="3433762"/>
            <a:ext cx="296708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62F2C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AAU Campus Hubs</a:t>
            </a:r>
            <a:endParaRPr/>
          </a:p>
        </p:txBody>
      </p:sp>
      <p:sp>
        <p:nvSpPr>
          <p:cNvPr id="339" name="Google Shape;339;p26"/>
          <p:cNvSpPr txBox="1"/>
          <p:nvPr/>
        </p:nvSpPr>
        <p:spPr>
          <a:xfrm>
            <a:off x="1047750" y="3833812"/>
            <a:ext cx="28257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Direct activations on Addis Ababa University campuses targeting students swapping gadget accessories and apparel.</a:t>
            </a:r>
            <a:endParaRPr/>
          </a:p>
        </p:txBody>
      </p:sp>
      <p:pic>
        <p:nvPicPr>
          <p:cNvPr descr="image.png" id="340" name="Google Shape;340;p2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683174" y="2767012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26"/>
          <p:cNvSpPr txBox="1"/>
          <p:nvPr/>
        </p:nvSpPr>
        <p:spPr>
          <a:xfrm>
            <a:off x="4683174" y="3433762"/>
            <a:ext cx="296708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62F2C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Viral TikTok Content</a:t>
            </a:r>
            <a:endParaRPr/>
          </a:p>
        </p:txBody>
      </p:sp>
      <p:sp>
        <p:nvSpPr>
          <p:cNvPr id="342" name="Google Shape;342;p26"/>
          <p:cNvSpPr txBox="1"/>
          <p:nvPr/>
        </p:nvSpPr>
        <p:spPr>
          <a:xfrm>
            <a:off x="4683174" y="3833812"/>
            <a:ext cx="28257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Partnering with microtech creators showcasing actual, high-value trades (e.g. trading three dormant gadgets for a phone).</a:t>
            </a:r>
            <a:endParaRPr/>
          </a:p>
        </p:txBody>
      </p:sp>
      <p:pic>
        <p:nvPicPr>
          <p:cNvPr descr="image.png" id="343" name="Google Shape;343;p2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318599" y="2767012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26"/>
          <p:cNvSpPr txBox="1"/>
          <p:nvPr/>
        </p:nvSpPr>
        <p:spPr>
          <a:xfrm>
            <a:off x="8318599" y="3433762"/>
            <a:ext cx="296708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62F2C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Swap Meets</a:t>
            </a:r>
            <a:endParaRPr/>
          </a:p>
        </p:txBody>
      </p:sp>
      <p:sp>
        <p:nvSpPr>
          <p:cNvPr id="345" name="Google Shape;345;p26"/>
          <p:cNvSpPr txBox="1"/>
          <p:nvPr/>
        </p:nvSpPr>
        <p:spPr>
          <a:xfrm>
            <a:off x="8318599" y="3833812"/>
            <a:ext cx="2825799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Sponsoring physical swap meet events across Bole tech cafes to assist users log their first dormant closet asset.</a:t>
            </a:r>
            <a:endParaRPr/>
          </a:p>
        </p:txBody>
      </p:sp>
      <p:pic>
        <p:nvPicPr>
          <p:cNvPr descr="image.png" id="346" name="Google Shape;346;p2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143000" y="2890837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7" name="Google Shape;347;p2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792712" y="2890837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8" name="Google Shape;348;p2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413849" y="2890837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26"/>
          <p:cNvSpPr txBox="1"/>
          <p:nvPr/>
        </p:nvSpPr>
        <p:spPr>
          <a:xfrm>
            <a:off x="762000" y="523875"/>
            <a:ext cx="112014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62F2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Go-To-Market Strategy: Phase 1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9F5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4" name="Google Shape;35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5" name="Google Shape;355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881312"/>
            <a:ext cx="5143500" cy="1866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6" name="Google Shape;356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881312"/>
            <a:ext cx="5143500" cy="1866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7" name="Google Shape;357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6343650"/>
            <a:ext cx="106680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27"/>
          <p:cNvSpPr txBox="1"/>
          <p:nvPr/>
        </p:nvSpPr>
        <p:spPr>
          <a:xfrm>
            <a:off x="762000" y="6448425"/>
            <a:ext cx="828675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GTM STRATEGY</a:t>
            </a:r>
            <a:endParaRPr/>
          </a:p>
        </p:txBody>
      </p:sp>
      <p:sp>
        <p:nvSpPr>
          <p:cNvPr id="359" name="Google Shape;359;p27"/>
          <p:cNvSpPr txBox="1"/>
          <p:nvPr/>
        </p:nvSpPr>
        <p:spPr>
          <a:xfrm>
            <a:off x="5888831" y="6448425"/>
            <a:ext cx="1128712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PHASE 2 EXPANSION</a:t>
            </a:r>
            <a:endParaRPr/>
          </a:p>
        </p:txBody>
      </p:sp>
      <p:sp>
        <p:nvSpPr>
          <p:cNvPr id="360" name="Google Shape;360;p27"/>
          <p:cNvSpPr txBox="1"/>
          <p:nvPr/>
        </p:nvSpPr>
        <p:spPr>
          <a:xfrm>
            <a:off x="11315700" y="6448425"/>
            <a:ext cx="114300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15</a:t>
            </a:r>
            <a:endParaRPr/>
          </a:p>
        </p:txBody>
      </p:sp>
      <p:sp>
        <p:nvSpPr>
          <p:cNvPr id="361" name="Google Shape;361;p27"/>
          <p:cNvSpPr txBox="1"/>
          <p:nvPr/>
        </p:nvSpPr>
        <p:spPr>
          <a:xfrm>
            <a:off x="1143000" y="3214687"/>
            <a:ext cx="4650581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D948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Verified Liquidators</a:t>
            </a:r>
            <a:endParaRPr/>
          </a:p>
        </p:txBody>
      </p:sp>
      <p:sp>
        <p:nvSpPr>
          <p:cNvPr id="362" name="Google Shape;362;p27"/>
          <p:cNvSpPr txBox="1"/>
          <p:nvPr/>
        </p:nvSpPr>
        <p:spPr>
          <a:xfrm>
            <a:off x="1143000" y="3614737"/>
            <a:ext cx="442912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Onboarding electronics repair boutique shops and secondhand brokers as certified liquidity points to buy up uneven asset-and-cash configurations safely.</a:t>
            </a:r>
            <a:endParaRPr/>
          </a:p>
        </p:txBody>
      </p:sp>
      <p:sp>
        <p:nvSpPr>
          <p:cNvPr id="363" name="Google Shape;363;p27"/>
          <p:cNvSpPr txBox="1"/>
          <p:nvPr/>
        </p:nvSpPr>
        <p:spPr>
          <a:xfrm>
            <a:off x="6667500" y="3214687"/>
            <a:ext cx="4650581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D948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Substantial Asset Categories</a:t>
            </a:r>
            <a:endParaRPr/>
          </a:p>
        </p:txBody>
      </p:sp>
      <p:sp>
        <p:nvSpPr>
          <p:cNvPr id="364" name="Google Shape;364;p27"/>
          <p:cNvSpPr txBox="1"/>
          <p:nvPr/>
        </p:nvSpPr>
        <p:spPr>
          <a:xfrm>
            <a:off x="6667500" y="3614737"/>
            <a:ext cx="442912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Rolling out subsequent modules for high-net-worth demographic cohorts trading vintage collectibles, vehicles, and real estate configurations inside Addis Ababa.</a:t>
            </a:r>
            <a:endParaRPr/>
          </a:p>
        </p:txBody>
      </p:sp>
      <p:sp>
        <p:nvSpPr>
          <p:cNvPr id="365" name="Google Shape;365;p27"/>
          <p:cNvSpPr txBox="1"/>
          <p:nvPr/>
        </p:nvSpPr>
        <p:spPr>
          <a:xfrm>
            <a:off x="762000" y="523875"/>
            <a:ext cx="112014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62F2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GTM Expansion Strategy: Phase 2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9F5"/>
        </a:solid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70" name="Google Shape;37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1" name="Google Shape;371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389882"/>
            <a:ext cx="5143500" cy="28496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2" name="Google Shape;372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389882"/>
            <a:ext cx="5143500" cy="28496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3" name="Google Shape;373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67500" y="4047232"/>
            <a:ext cx="4429125" cy="8588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4" name="Google Shape;374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6343650"/>
            <a:ext cx="106680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28"/>
          <p:cNvSpPr txBox="1"/>
          <p:nvPr/>
        </p:nvSpPr>
        <p:spPr>
          <a:xfrm>
            <a:off x="762000" y="6448425"/>
            <a:ext cx="1123950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FINANCE MODELING</a:t>
            </a:r>
            <a:endParaRPr/>
          </a:p>
        </p:txBody>
      </p:sp>
      <p:sp>
        <p:nvSpPr>
          <p:cNvPr id="376" name="Google Shape;376;p28"/>
          <p:cNvSpPr txBox="1"/>
          <p:nvPr/>
        </p:nvSpPr>
        <p:spPr>
          <a:xfrm>
            <a:off x="5762625" y="6448425"/>
            <a:ext cx="1676400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MATHEMATICAL FOUNDATIONS</a:t>
            </a:r>
            <a:endParaRPr/>
          </a:p>
        </p:txBody>
      </p:sp>
      <p:sp>
        <p:nvSpPr>
          <p:cNvPr id="377" name="Google Shape;377;p28"/>
          <p:cNvSpPr txBox="1"/>
          <p:nvPr/>
        </p:nvSpPr>
        <p:spPr>
          <a:xfrm>
            <a:off x="11315700" y="6448425"/>
            <a:ext cx="114300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16</a:t>
            </a:r>
            <a:endParaRPr/>
          </a:p>
        </p:txBody>
      </p:sp>
      <p:sp>
        <p:nvSpPr>
          <p:cNvPr id="378" name="Google Shape;378;p28"/>
          <p:cNvSpPr txBox="1"/>
          <p:nvPr/>
        </p:nvSpPr>
        <p:spPr>
          <a:xfrm>
            <a:off x="1143000" y="2723257"/>
            <a:ext cx="4650581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D948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Scale Metrics</a:t>
            </a:r>
            <a:endParaRPr/>
          </a:p>
        </p:txBody>
      </p:sp>
      <p:sp>
        <p:nvSpPr>
          <p:cNvPr id="379" name="Google Shape;379;p28"/>
          <p:cNvSpPr txBox="1"/>
          <p:nvPr/>
        </p:nvSpPr>
        <p:spPr>
          <a:xfrm>
            <a:off x="1143000" y="3123307"/>
            <a:ext cx="442912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Targeting 50,000 active urban traders inside Addis Ababa in Year 1, converting 55% of the organic funnel into long-term users paying the 5 ETB active baseline fee.</a:t>
            </a:r>
            <a:endParaRPr/>
          </a:p>
        </p:txBody>
      </p:sp>
      <p:sp>
        <p:nvSpPr>
          <p:cNvPr id="380" name="Google Shape;380;p28"/>
          <p:cNvSpPr txBox="1"/>
          <p:nvPr/>
        </p:nvSpPr>
        <p:spPr>
          <a:xfrm>
            <a:off x="6667500" y="2723257"/>
            <a:ext cx="4650581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D948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Revenue Equations</a:t>
            </a:r>
            <a:endParaRPr/>
          </a:p>
        </p:txBody>
      </p:sp>
      <p:sp>
        <p:nvSpPr>
          <p:cNvPr id="381" name="Google Shape;381;p28"/>
          <p:cNvSpPr txBox="1"/>
          <p:nvPr/>
        </p:nvSpPr>
        <p:spPr>
          <a:xfrm>
            <a:off x="6667500" y="3123307"/>
            <a:ext cx="442912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Baseline calculations scale proportionally with the optimization of database queries, offsetting operational costs easily.</a:t>
            </a:r>
            <a:endParaRPr/>
          </a:p>
        </p:txBody>
      </p:sp>
      <p:sp>
        <p:nvSpPr>
          <p:cNvPr id="382" name="Google Shape;382;p28"/>
          <p:cNvSpPr txBox="1"/>
          <p:nvPr/>
        </p:nvSpPr>
        <p:spPr>
          <a:xfrm>
            <a:off x="6858000" y="4237732"/>
            <a:ext cx="40481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D948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MONTHLY PLATFORM NET REVENUE</a:t>
            </a:r>
            <a:endParaRPr/>
          </a:p>
        </p:txBody>
      </p:sp>
      <p:pic>
        <p:nvPicPr>
          <p:cNvPr descr="image.png" id="383" name="Google Shape;383;p2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772697" y="4556819"/>
            <a:ext cx="2218729" cy="158799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28"/>
          <p:cNvSpPr txBox="1"/>
          <p:nvPr/>
        </p:nvSpPr>
        <p:spPr>
          <a:xfrm>
            <a:off x="762000" y="523875"/>
            <a:ext cx="112014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62F2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Financial Modeling &amp; Scalability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9F5"/>
        </a:solidFill>
      </p:bgPr>
    </p:bg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89" name="Google Shape;38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0" name="Google Shape;390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6343650"/>
            <a:ext cx="106680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29"/>
          <p:cNvSpPr txBox="1"/>
          <p:nvPr/>
        </p:nvSpPr>
        <p:spPr>
          <a:xfrm>
            <a:off x="762000" y="6448425"/>
            <a:ext cx="1362075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ECOSYSTEM CONTROLS</a:t>
            </a:r>
            <a:endParaRPr/>
          </a:p>
        </p:txBody>
      </p:sp>
      <p:sp>
        <p:nvSpPr>
          <p:cNvPr id="392" name="Google Shape;392;p29"/>
          <p:cNvSpPr txBox="1"/>
          <p:nvPr/>
        </p:nvSpPr>
        <p:spPr>
          <a:xfrm>
            <a:off x="6307931" y="6448425"/>
            <a:ext cx="833437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RISK STRATEGY</a:t>
            </a:r>
            <a:endParaRPr/>
          </a:p>
        </p:txBody>
      </p:sp>
      <p:sp>
        <p:nvSpPr>
          <p:cNvPr id="393" name="Google Shape;393;p29"/>
          <p:cNvSpPr txBox="1"/>
          <p:nvPr/>
        </p:nvSpPr>
        <p:spPr>
          <a:xfrm>
            <a:off x="11325225" y="6448425"/>
            <a:ext cx="104775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17</a:t>
            </a:r>
            <a:endParaRPr/>
          </a:p>
        </p:txBody>
      </p:sp>
      <p:graphicFrame>
        <p:nvGraphicFramePr>
          <p:cNvPr id="394" name="Google Shape;394;p29"/>
          <p:cNvGraphicFramePr/>
          <p:nvPr/>
        </p:nvGraphicFramePr>
        <p:xfrm>
          <a:off x="762000" y="278368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{77FD1156-6B1D-4BD4-8013-AA8AFF705925}</a:tableStyleId>
              </a:tblPr>
              <a:tblGrid>
                <a:gridCol w="2119750"/>
                <a:gridCol w="3925650"/>
                <a:gridCol w="4622600"/>
              </a:tblGrid>
              <a:tr h="515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62F2C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Identified System Risk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62F2C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Potential Strategic Impact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62F2C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Liwa Core Mitigating Shield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</a:tr>
              <a:tr h="515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Platform Cash Leakage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Users closing financial margins off-platform.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D97706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Link escrow/satisfaction parameters strictly to API balances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5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Digital Literacy Gaps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Users finding complex state machines confusing.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D97706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Amharic/Oromiffa UI designs with highly visual layout vectors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5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Spotty Edge Connectivity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Network timeout disruptions during meetup finalization.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D97706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Device local caching matching Ethio Telecom edge configurations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95" name="Google Shape;395;p29"/>
          <p:cNvSpPr/>
          <p:nvPr/>
        </p:nvSpPr>
        <p:spPr>
          <a:xfrm>
            <a:off x="762000" y="3298031"/>
            <a:ext cx="2119758" cy="95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9"/>
          <p:cNvSpPr/>
          <p:nvPr/>
        </p:nvSpPr>
        <p:spPr>
          <a:xfrm>
            <a:off x="2881758" y="3298031"/>
            <a:ext cx="3925639" cy="95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9"/>
          <p:cNvSpPr/>
          <p:nvPr/>
        </p:nvSpPr>
        <p:spPr>
          <a:xfrm>
            <a:off x="6807398" y="3298031"/>
            <a:ext cx="4622601" cy="95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9"/>
          <p:cNvSpPr/>
          <p:nvPr/>
        </p:nvSpPr>
        <p:spPr>
          <a:xfrm>
            <a:off x="762000" y="3812381"/>
            <a:ext cx="2119758" cy="95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9"/>
          <p:cNvSpPr/>
          <p:nvPr/>
        </p:nvSpPr>
        <p:spPr>
          <a:xfrm>
            <a:off x="2881758" y="3812381"/>
            <a:ext cx="3925639" cy="95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9"/>
          <p:cNvSpPr/>
          <p:nvPr/>
        </p:nvSpPr>
        <p:spPr>
          <a:xfrm>
            <a:off x="6807398" y="3812381"/>
            <a:ext cx="4622601" cy="95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9"/>
          <p:cNvSpPr/>
          <p:nvPr/>
        </p:nvSpPr>
        <p:spPr>
          <a:xfrm>
            <a:off x="762000" y="4326731"/>
            <a:ext cx="2119758" cy="95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9"/>
          <p:cNvSpPr/>
          <p:nvPr/>
        </p:nvSpPr>
        <p:spPr>
          <a:xfrm>
            <a:off x="2881758" y="4326731"/>
            <a:ext cx="3925639" cy="95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9"/>
          <p:cNvSpPr/>
          <p:nvPr/>
        </p:nvSpPr>
        <p:spPr>
          <a:xfrm>
            <a:off x="6807398" y="4326731"/>
            <a:ext cx="4622601" cy="95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9"/>
          <p:cNvSpPr txBox="1"/>
          <p:nvPr/>
        </p:nvSpPr>
        <p:spPr>
          <a:xfrm>
            <a:off x="762000" y="523875"/>
            <a:ext cx="112014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62F2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Ecosystem Defensibility Risk Grid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9F5"/>
        </a:solidFill>
      </p:bgPr>
    </p:bg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09" name="Google Shape;40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0" name="Google Shape;410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6343650"/>
            <a:ext cx="106680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30"/>
          <p:cNvSpPr txBox="1"/>
          <p:nvPr/>
        </p:nvSpPr>
        <p:spPr>
          <a:xfrm>
            <a:off x="762000" y="6448425"/>
            <a:ext cx="1209675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STRATEGIC PLANNING</a:t>
            </a:r>
            <a:endParaRPr/>
          </a:p>
        </p:txBody>
      </p:sp>
      <p:sp>
        <p:nvSpPr>
          <p:cNvPr id="412" name="Google Shape;412;p30"/>
          <p:cNvSpPr txBox="1"/>
          <p:nvPr/>
        </p:nvSpPr>
        <p:spPr>
          <a:xfrm>
            <a:off x="6100762" y="6448425"/>
            <a:ext cx="1085850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PRODUCT TIMELINE</a:t>
            </a:r>
            <a:endParaRPr/>
          </a:p>
        </p:txBody>
      </p:sp>
      <p:sp>
        <p:nvSpPr>
          <p:cNvPr id="413" name="Google Shape;413;p30"/>
          <p:cNvSpPr txBox="1"/>
          <p:nvPr/>
        </p:nvSpPr>
        <p:spPr>
          <a:xfrm>
            <a:off x="11315700" y="6448425"/>
            <a:ext cx="114300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18</a:t>
            </a:r>
            <a:endParaRPr/>
          </a:p>
        </p:txBody>
      </p:sp>
      <p:sp>
        <p:nvSpPr>
          <p:cNvPr id="414" name="Google Shape;414;p30"/>
          <p:cNvSpPr/>
          <p:nvPr/>
        </p:nvSpPr>
        <p:spPr>
          <a:xfrm>
            <a:off x="762000" y="3795712"/>
            <a:ext cx="10668000" cy="381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30"/>
          <p:cNvSpPr txBox="1"/>
          <p:nvPr/>
        </p:nvSpPr>
        <p:spPr>
          <a:xfrm>
            <a:off x="700660" y="4052887"/>
            <a:ext cx="2576259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D948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Phase 1: Core</a:t>
            </a:r>
            <a:endParaRPr/>
          </a:p>
        </p:txBody>
      </p:sp>
      <p:sp>
        <p:nvSpPr>
          <p:cNvPr id="416" name="Google Shape;416;p30"/>
          <p:cNvSpPr txBox="1"/>
          <p:nvPr/>
        </p:nvSpPr>
        <p:spPr>
          <a:xfrm>
            <a:off x="762000" y="4319587"/>
            <a:ext cx="2453580" cy="5197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Launch Chat-Only core P2P barter transaction engine &amp; QR Code finality in Addis Ababa.</a:t>
            </a:r>
            <a:endParaRPr/>
          </a:p>
        </p:txBody>
      </p:sp>
      <p:sp>
        <p:nvSpPr>
          <p:cNvPr id="417" name="Google Shape;417;p30"/>
          <p:cNvSpPr txBox="1"/>
          <p:nvPr/>
        </p:nvSpPr>
        <p:spPr>
          <a:xfrm>
            <a:off x="3438800" y="2675929"/>
            <a:ext cx="2576259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D948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Phase 2: Wallet</a:t>
            </a:r>
            <a:endParaRPr/>
          </a:p>
        </p:txBody>
      </p:sp>
      <p:sp>
        <p:nvSpPr>
          <p:cNvPr id="418" name="Google Shape;418;p30"/>
          <p:cNvSpPr txBox="1"/>
          <p:nvPr/>
        </p:nvSpPr>
        <p:spPr>
          <a:xfrm>
            <a:off x="3500139" y="2942629"/>
            <a:ext cx="2453580" cy="5197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Launch built-in integrated escrow wallet and automated item depreciation pricing tools.</a:t>
            </a:r>
            <a:endParaRPr/>
          </a:p>
        </p:txBody>
      </p:sp>
      <p:sp>
        <p:nvSpPr>
          <p:cNvPr id="419" name="Google Shape;419;p30"/>
          <p:cNvSpPr txBox="1"/>
          <p:nvPr/>
        </p:nvSpPr>
        <p:spPr>
          <a:xfrm>
            <a:off x="6176940" y="4052887"/>
            <a:ext cx="2576259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D948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Phase 3: AI</a:t>
            </a:r>
            <a:endParaRPr/>
          </a:p>
        </p:txBody>
      </p:sp>
      <p:sp>
        <p:nvSpPr>
          <p:cNvPr id="420" name="Google Shape;420;p30"/>
          <p:cNvSpPr txBox="1"/>
          <p:nvPr/>
        </p:nvSpPr>
        <p:spPr>
          <a:xfrm>
            <a:off x="6238279" y="4319587"/>
            <a:ext cx="2453580" cy="5197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Deploy camera-driven AI product recognition system for listing creation; scale regional hubs.</a:t>
            </a:r>
            <a:endParaRPr/>
          </a:p>
        </p:txBody>
      </p:sp>
      <p:sp>
        <p:nvSpPr>
          <p:cNvPr id="421" name="Google Shape;421;p30"/>
          <p:cNvSpPr txBox="1"/>
          <p:nvPr/>
        </p:nvSpPr>
        <p:spPr>
          <a:xfrm>
            <a:off x="8915080" y="2675929"/>
            <a:ext cx="2576259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D948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Phase 4: Logistics</a:t>
            </a:r>
            <a:endParaRPr/>
          </a:p>
        </p:txBody>
      </p:sp>
      <p:sp>
        <p:nvSpPr>
          <p:cNvPr id="422" name="Google Shape;422;p30"/>
          <p:cNvSpPr txBox="1"/>
          <p:nvPr/>
        </p:nvSpPr>
        <p:spPr>
          <a:xfrm>
            <a:off x="8976419" y="2942629"/>
            <a:ext cx="2453580" cy="5197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Integrate specialized urban micro-logistics and delivery loops across Adama &amp; Hawassa.</a:t>
            </a:r>
            <a:endParaRPr/>
          </a:p>
        </p:txBody>
      </p:sp>
      <p:sp>
        <p:nvSpPr>
          <p:cNvPr id="423" name="Google Shape;423;p30"/>
          <p:cNvSpPr txBox="1"/>
          <p:nvPr/>
        </p:nvSpPr>
        <p:spPr>
          <a:xfrm>
            <a:off x="762000" y="523875"/>
            <a:ext cx="112014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62F2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Product &amp; Expansion Roadmap</a:t>
            </a:r>
            <a:endParaRPr/>
          </a:p>
        </p:txBody>
      </p:sp>
      <p:sp>
        <p:nvSpPr>
          <p:cNvPr id="424" name="Google Shape;424;p30"/>
          <p:cNvSpPr/>
          <p:nvPr/>
        </p:nvSpPr>
        <p:spPr>
          <a:xfrm>
            <a:off x="1903065" y="3729037"/>
            <a:ext cx="171450" cy="171450"/>
          </a:xfrm>
          <a:prstGeom prst="roundRect">
            <a:avLst>
              <a:gd fmla="val 50000" name="adj"/>
            </a:avLst>
          </a:prstGeom>
          <a:solidFill>
            <a:srgbClr val="FAF9F5"/>
          </a:solidFill>
          <a:ln cap="flat" cmpd="sng" w="381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30"/>
          <p:cNvSpPr/>
          <p:nvPr/>
        </p:nvSpPr>
        <p:spPr>
          <a:xfrm>
            <a:off x="4641205" y="3729037"/>
            <a:ext cx="171450" cy="171450"/>
          </a:xfrm>
          <a:prstGeom prst="roundRect">
            <a:avLst>
              <a:gd fmla="val 50000" name="adj"/>
            </a:avLst>
          </a:prstGeom>
          <a:solidFill>
            <a:srgbClr val="FAF9F5"/>
          </a:solidFill>
          <a:ln cap="flat" cmpd="sng" w="381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30"/>
          <p:cNvSpPr/>
          <p:nvPr/>
        </p:nvSpPr>
        <p:spPr>
          <a:xfrm>
            <a:off x="7379344" y="3729037"/>
            <a:ext cx="171450" cy="171450"/>
          </a:xfrm>
          <a:prstGeom prst="roundRect">
            <a:avLst>
              <a:gd fmla="val 50000" name="adj"/>
            </a:avLst>
          </a:prstGeom>
          <a:solidFill>
            <a:srgbClr val="FAF9F5"/>
          </a:solidFill>
          <a:ln cap="flat" cmpd="sng" w="381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30"/>
          <p:cNvSpPr/>
          <p:nvPr/>
        </p:nvSpPr>
        <p:spPr>
          <a:xfrm>
            <a:off x="10117484" y="3729037"/>
            <a:ext cx="171450" cy="171450"/>
          </a:xfrm>
          <a:prstGeom prst="roundRect">
            <a:avLst>
              <a:gd fmla="val 50000" name="adj"/>
            </a:avLst>
          </a:prstGeom>
          <a:solidFill>
            <a:srgbClr val="FAF9F5"/>
          </a:solidFill>
          <a:ln cap="flat" cmpd="sng" w="381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9F5"/>
        </a:solidFill>
      </p:bgPr>
    </p:bg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32" name="Google Shape;43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3" name="Google Shape;433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243137"/>
            <a:ext cx="3143250" cy="3143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4" name="Google Shape;434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6343650"/>
            <a:ext cx="106680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31"/>
          <p:cNvSpPr txBox="1"/>
          <p:nvPr/>
        </p:nvSpPr>
        <p:spPr>
          <a:xfrm>
            <a:off x="762000" y="6448425"/>
            <a:ext cx="1109662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EXECUTION POWER</a:t>
            </a:r>
            <a:endParaRPr/>
          </a:p>
        </p:txBody>
      </p:sp>
      <p:sp>
        <p:nvSpPr>
          <p:cNvPr id="436" name="Google Shape;436;p31"/>
          <p:cNvSpPr txBox="1"/>
          <p:nvPr/>
        </p:nvSpPr>
        <p:spPr>
          <a:xfrm>
            <a:off x="6326981" y="6448425"/>
            <a:ext cx="533400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THE TEAM</a:t>
            </a:r>
            <a:endParaRPr/>
          </a:p>
        </p:txBody>
      </p:sp>
      <p:sp>
        <p:nvSpPr>
          <p:cNvPr id="437" name="Google Shape;437;p31"/>
          <p:cNvSpPr txBox="1"/>
          <p:nvPr/>
        </p:nvSpPr>
        <p:spPr>
          <a:xfrm>
            <a:off x="11315700" y="6448425"/>
            <a:ext cx="114300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19</a:t>
            </a:r>
            <a:endParaRPr/>
          </a:p>
        </p:txBody>
      </p:sp>
      <p:sp>
        <p:nvSpPr>
          <p:cNvPr id="438" name="Google Shape;438;p31"/>
          <p:cNvSpPr txBox="1"/>
          <p:nvPr/>
        </p:nvSpPr>
        <p:spPr>
          <a:xfrm>
            <a:off x="6286500" y="2757487"/>
            <a:ext cx="5400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D948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Founders &amp; Advisors</a:t>
            </a:r>
            <a:endParaRPr/>
          </a:p>
        </p:txBody>
      </p:sp>
      <p:sp>
        <p:nvSpPr>
          <p:cNvPr id="439" name="Google Shape;439;p31"/>
          <p:cNvSpPr txBox="1"/>
          <p:nvPr/>
        </p:nvSpPr>
        <p:spPr>
          <a:xfrm>
            <a:off x="6286500" y="3157537"/>
            <a:ext cx="5143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CEO &amp; Product Strategist: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Deep startup domain knowledge in the Addis tech network with extensive design history.</a:t>
            </a:r>
            <a:endParaRPr/>
          </a:p>
        </p:txBody>
      </p:sp>
      <p:sp>
        <p:nvSpPr>
          <p:cNvPr id="440" name="Google Shape;440;p31"/>
          <p:cNvSpPr txBox="1"/>
          <p:nvPr/>
        </p:nvSpPr>
        <p:spPr>
          <a:xfrm>
            <a:off x="6286500" y="3729037"/>
            <a:ext cx="5143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CTO &amp; Architect: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Expert in Firebase serverless environments and cross-platform native SDK wrappers.</a:t>
            </a:r>
            <a:endParaRPr/>
          </a:p>
        </p:txBody>
      </p:sp>
      <p:sp>
        <p:nvSpPr>
          <p:cNvPr id="441" name="Google Shape;441;p31"/>
          <p:cNvSpPr txBox="1"/>
          <p:nvPr/>
        </p:nvSpPr>
        <p:spPr>
          <a:xfrm>
            <a:off x="6286500" y="4300537"/>
            <a:ext cx="5143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Advisory Board: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Strategic operations managers from Ethiopia's top payment gateway networks.</a:t>
            </a:r>
            <a:endParaRPr/>
          </a:p>
        </p:txBody>
      </p:sp>
      <p:pic>
        <p:nvPicPr>
          <p:cNvPr descr="image.png" id="442" name="Google Shape;442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" y="2300287"/>
            <a:ext cx="3028950" cy="3028950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31"/>
          <p:cNvSpPr txBox="1"/>
          <p:nvPr/>
        </p:nvSpPr>
        <p:spPr>
          <a:xfrm>
            <a:off x="762000" y="523875"/>
            <a:ext cx="112014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62F2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Execution Capabilities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9F5"/>
        </a:solidFill>
      </p:bgPr>
    </p:bg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48" name="Google Shape;44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9" name="Google Shape;449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33962" y="523875"/>
            <a:ext cx="2124075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0" name="Google Shape;450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6343650"/>
            <a:ext cx="106680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32"/>
          <p:cNvSpPr txBox="1"/>
          <p:nvPr/>
        </p:nvSpPr>
        <p:spPr>
          <a:xfrm>
            <a:off x="495300" y="1066800"/>
            <a:ext cx="11201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62F2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Let's Talk.</a:t>
            </a:r>
            <a:endParaRPr/>
          </a:p>
        </p:txBody>
      </p:sp>
      <p:sp>
        <p:nvSpPr>
          <p:cNvPr id="452" name="Google Shape;452;p32"/>
          <p:cNvSpPr txBox="1"/>
          <p:nvPr/>
        </p:nvSpPr>
        <p:spPr>
          <a:xfrm>
            <a:off x="2762250" y="2171700"/>
            <a:ext cx="66675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Liwa is currently seeking Seed Capital to complete engineering locks, scale viral TikTok-led consumer acquisition channels, and solidify regulatory gateway integrations.</a:t>
            </a:r>
            <a:endParaRPr/>
          </a:p>
        </p:txBody>
      </p:sp>
      <p:sp>
        <p:nvSpPr>
          <p:cNvPr id="453" name="Google Shape;453;p32"/>
          <p:cNvSpPr txBox="1"/>
          <p:nvPr/>
        </p:nvSpPr>
        <p:spPr>
          <a:xfrm>
            <a:off x="762000" y="2992635"/>
            <a:ext cx="106680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D948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Michaele Ermias Baye | send2michaele@gmail.com</a:t>
            </a:r>
            <a:endParaRPr/>
          </a:p>
        </p:txBody>
      </p:sp>
      <p:sp>
        <p:nvSpPr>
          <p:cNvPr id="454" name="Google Shape;454;p32"/>
          <p:cNvSpPr txBox="1"/>
          <p:nvPr/>
        </p:nvSpPr>
        <p:spPr>
          <a:xfrm>
            <a:off x="762000" y="3354585"/>
            <a:ext cx="10668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Platform Blueprint Reference: Liwa Fintech Presentation.pptx &amp; Liwach app Reverw.docx</a:t>
            </a:r>
            <a:endParaRPr/>
          </a:p>
        </p:txBody>
      </p:sp>
      <p:sp>
        <p:nvSpPr>
          <p:cNvPr id="455" name="Google Shape;455;p32"/>
          <p:cNvSpPr txBox="1"/>
          <p:nvPr/>
        </p:nvSpPr>
        <p:spPr>
          <a:xfrm>
            <a:off x="762000" y="6448425"/>
            <a:ext cx="1366837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STRATEGIC PARTNER ASK</a:t>
            </a:r>
            <a:endParaRPr/>
          </a:p>
        </p:txBody>
      </p:sp>
      <p:sp>
        <p:nvSpPr>
          <p:cNvPr id="456" name="Google Shape;456;p32"/>
          <p:cNvSpPr txBox="1"/>
          <p:nvPr/>
        </p:nvSpPr>
        <p:spPr>
          <a:xfrm>
            <a:off x="6007893" y="6448425"/>
            <a:ext cx="1390650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PLATFORM LAUNCH 2026</a:t>
            </a:r>
            <a:endParaRPr/>
          </a:p>
        </p:txBody>
      </p:sp>
      <p:sp>
        <p:nvSpPr>
          <p:cNvPr id="457" name="Google Shape;457;p32"/>
          <p:cNvSpPr txBox="1"/>
          <p:nvPr/>
        </p:nvSpPr>
        <p:spPr>
          <a:xfrm>
            <a:off x="11277600" y="6448425"/>
            <a:ext cx="152400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20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9F5"/>
        </a:solidFill>
      </p:bgPr>
    </p:bg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62" name="Google Shape;462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33"/>
          <p:cNvSpPr/>
          <p:nvPr/>
        </p:nvSpPr>
        <p:spPr>
          <a:xfrm>
            <a:off x="762000" y="2105025"/>
            <a:ext cx="10668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33"/>
          <p:cNvSpPr/>
          <p:nvPr/>
        </p:nvSpPr>
        <p:spPr>
          <a:xfrm>
            <a:off x="762000" y="2876550"/>
            <a:ext cx="10668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33"/>
          <p:cNvSpPr/>
          <p:nvPr/>
        </p:nvSpPr>
        <p:spPr>
          <a:xfrm>
            <a:off x="762000" y="3648075"/>
            <a:ext cx="106680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33"/>
          <p:cNvSpPr/>
          <p:nvPr/>
        </p:nvSpPr>
        <p:spPr>
          <a:xfrm>
            <a:off x="762000" y="2867025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33"/>
          <p:cNvSpPr/>
          <p:nvPr/>
        </p:nvSpPr>
        <p:spPr>
          <a:xfrm>
            <a:off x="762000" y="2867025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33"/>
          <p:cNvSpPr/>
          <p:nvPr/>
        </p:nvSpPr>
        <p:spPr>
          <a:xfrm>
            <a:off x="762000" y="3638550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33"/>
          <p:cNvSpPr/>
          <p:nvPr/>
        </p:nvSpPr>
        <p:spPr>
          <a:xfrm>
            <a:off x="762000" y="3638550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33"/>
          <p:cNvSpPr/>
          <p:nvPr/>
        </p:nvSpPr>
        <p:spPr>
          <a:xfrm>
            <a:off x="762000" y="4581525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33"/>
          <p:cNvSpPr/>
          <p:nvPr/>
        </p:nvSpPr>
        <p:spPr>
          <a:xfrm>
            <a:off x="762000" y="4581525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72" name="Google Shape;472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2479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33"/>
          <p:cNvSpPr txBox="1"/>
          <p:nvPr/>
        </p:nvSpPr>
        <p:spPr>
          <a:xfrm>
            <a:off x="1857375" y="2255043"/>
            <a:ext cx="9572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https://reqiq.co/wp-content/uploads/2023/03/Reqiq.co-%E2%80%94-Tallest-Buildings-of-Addis-Ababa-%E2%80%94-Meta.jpg</a:t>
            </a:r>
            <a:endParaRPr/>
          </a:p>
        </p:txBody>
      </p:sp>
      <p:sp>
        <p:nvSpPr>
          <p:cNvPr id="474" name="Google Shape;474;p33"/>
          <p:cNvSpPr txBox="1"/>
          <p:nvPr/>
        </p:nvSpPr>
        <p:spPr>
          <a:xfrm>
            <a:off x="1857375" y="2488406"/>
            <a:ext cx="9572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reqiq.co</a:t>
            </a:r>
            <a:endParaRPr/>
          </a:p>
        </p:txBody>
      </p:sp>
      <p:pic>
        <p:nvPicPr>
          <p:cNvPr descr="image.png" id="475" name="Google Shape;475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0194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33"/>
          <p:cNvSpPr txBox="1"/>
          <p:nvPr/>
        </p:nvSpPr>
        <p:spPr>
          <a:xfrm>
            <a:off x="1857375" y="3026568"/>
            <a:ext cx="9572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https://www.ena.et/documents/42142/0/coders+2+%281%29.jpg/a43f22f4-3fff-5ae1-390f-148c55dbb2a0?version=1.0&amp;t=1767113598619&amp;download=true</a:t>
            </a:r>
            <a:endParaRPr/>
          </a:p>
        </p:txBody>
      </p:sp>
      <p:sp>
        <p:nvSpPr>
          <p:cNvPr id="477" name="Google Shape;477;p33"/>
          <p:cNvSpPr txBox="1"/>
          <p:nvPr/>
        </p:nvSpPr>
        <p:spPr>
          <a:xfrm>
            <a:off x="1857375" y="3259931"/>
            <a:ext cx="9572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www.ena.et</a:t>
            </a:r>
            <a:endParaRPr/>
          </a:p>
        </p:txBody>
      </p:sp>
      <p:pic>
        <p:nvPicPr>
          <p:cNvPr descr="image.png" id="478" name="Google Shape;478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38766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33"/>
          <p:cNvSpPr txBox="1"/>
          <p:nvPr/>
        </p:nvSpPr>
        <p:spPr>
          <a:xfrm>
            <a:off x="1857375" y="3790950"/>
            <a:ext cx="95726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https://shega.co/_next/image?url=https%3A%2F%2Fshegastrpool.blob.core.windows.net%2Fmedia-prod%2Fmedia-prod%2F132ce560_7cbc_11ef_bf4b_ef19cfbf3842_png_2a700e83ab.webp&amp;w=1920&amp;q=75</a:t>
            </a:r>
            <a:endParaRPr/>
          </a:p>
        </p:txBody>
      </p:sp>
      <p:sp>
        <p:nvSpPr>
          <p:cNvPr id="480" name="Google Shape;480;p33"/>
          <p:cNvSpPr txBox="1"/>
          <p:nvPr/>
        </p:nvSpPr>
        <p:spPr>
          <a:xfrm>
            <a:off x="1857375" y="4210050"/>
            <a:ext cx="9572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shega.co</a:t>
            </a:r>
            <a:endParaRPr/>
          </a:p>
        </p:txBody>
      </p:sp>
      <p:pic>
        <p:nvPicPr>
          <p:cNvPr descr="image.png" id="481" name="Google Shape;481;p3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48196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33"/>
          <p:cNvSpPr txBox="1"/>
          <p:nvPr/>
        </p:nvSpPr>
        <p:spPr>
          <a:xfrm>
            <a:off x="1857375" y="4733925"/>
            <a:ext cx="95726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https://shega.co/_next/image?url=https%3A%2F%2Fshegastrpool.blob.core.windows.net%2Fmedia-prod%2Fmedia-prod%2FScreenshot_2026_03_09_110227_4df9b79521_8c62219fcd.webp&amp;w=1920&amp;q=75</a:t>
            </a:r>
            <a:endParaRPr/>
          </a:p>
        </p:txBody>
      </p:sp>
      <p:sp>
        <p:nvSpPr>
          <p:cNvPr id="483" name="Google Shape;483;p33"/>
          <p:cNvSpPr txBox="1"/>
          <p:nvPr/>
        </p:nvSpPr>
        <p:spPr>
          <a:xfrm>
            <a:off x="1857375" y="5153025"/>
            <a:ext cx="9572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shega.co</a:t>
            </a:r>
            <a:endParaRPr/>
          </a:p>
        </p:txBody>
      </p:sp>
      <p:sp>
        <p:nvSpPr>
          <p:cNvPr id="484" name="Google Shape;484;p33"/>
          <p:cNvSpPr txBox="1"/>
          <p:nvPr/>
        </p:nvSpPr>
        <p:spPr>
          <a:xfrm>
            <a:off x="762000" y="523875"/>
            <a:ext cx="112014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62F2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